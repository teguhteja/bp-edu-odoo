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53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40">
                <a:solidFill>
                  <a:srgbClr val="A8D8CB"/>
                </a:solidFill>
                <a:latin typeface="Consolas"/>
              </a:rPr>
              <a:t>PROGRAM STUDI S1 SISTEM INFORMASI &amp; S1 INFORMATIKA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3290" y="457200"/>
            <a:ext cx="31911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 spc="80">
                <a:solidFill>
                  <a:srgbClr val="CFE5DE"/>
                </a:solidFill>
                <a:latin typeface="Consolas"/>
              </a:rPr>
              <a:t>01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841248"/>
            <a:ext cx="10637215" cy="0"/>
          </a:xfrm>
          <a:prstGeom prst="line">
            <a:avLst/>
          </a:prstGeom>
          <a:ln w="9525">
            <a:solidFill>
              <a:srgbClr val="2E6C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371600"/>
            <a:ext cx="744605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F2F8F6"/>
                </a:solidFill>
                <a:latin typeface="Georgia"/>
              </a:rPr>
              <a:t>Platform RPS BP 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659507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CFE5DE"/>
                </a:solidFill>
                <a:latin typeface="Segoe UI"/>
              </a:rPr>
              <a:t>Satu sumber data untuk RPS, SAP, dan Kontrak Kuliah berbasis OBE — lengkap dengan riwayat perubahan dan arsip buku ajar per mata kuliah.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.0" y="4114800"/>
            <a:ext cx="2017715.0" cy="0"/>
          </a:xfrm>
          <a:prstGeom prst="line">
            <a:avLst/>
          </a:prstGeom>
          <a:ln w="9525">
            <a:solidFill>
              <a:srgbClr val="3E7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4279392"/>
            <a:ext cx="194456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2F8F6"/>
                </a:solidFill>
                <a:latin typeface="Consolas"/>
              </a:rPr>
              <a:t>2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850" b="0" i="0" spc="100">
                <a:solidFill>
                  <a:srgbClr val="CFE5DE"/>
                </a:solidFill>
                <a:latin typeface="Segoe UI"/>
              </a:rPr>
              <a:t>PROGRAM STUDI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04683.0" y="4114800"/>
            <a:ext cx="2017715.0" cy="0"/>
          </a:xfrm>
          <a:prstGeom prst="line">
            <a:avLst/>
          </a:prstGeom>
          <a:ln w="9525">
            <a:solidFill>
              <a:srgbClr val="3E7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04683" y="4279392"/>
            <a:ext cx="194456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2F8F6"/>
                </a:solidFill>
                <a:latin typeface="Consolas"/>
              </a:rPr>
              <a:t>110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850" b="0" i="0" spc="100">
                <a:solidFill>
                  <a:srgbClr val="CFE5DE"/>
                </a:solidFill>
                <a:latin typeface="Segoe UI"/>
              </a:rPr>
              <a:t>MATA KULIAH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32126.0" y="4114800"/>
            <a:ext cx="2017715.0" cy="0"/>
          </a:xfrm>
          <a:prstGeom prst="line">
            <a:avLst/>
          </a:prstGeom>
          <a:ln w="9525">
            <a:solidFill>
              <a:srgbClr val="3E7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32126" y="4279392"/>
            <a:ext cx="194456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2F8F6"/>
                </a:solidFill>
                <a:latin typeface="Consolas"/>
              </a:rPr>
              <a:t>111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850" b="0" i="0" spc="100">
                <a:solidFill>
                  <a:srgbClr val="CFE5DE"/>
                </a:solidFill>
                <a:latin typeface="Segoe UI"/>
              </a:rPr>
              <a:t>RPS TERSUSUN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59569.0" y="4114800"/>
            <a:ext cx="2017715.0" cy="0"/>
          </a:xfrm>
          <a:prstGeom prst="line">
            <a:avLst/>
          </a:prstGeom>
          <a:ln w="9525">
            <a:solidFill>
              <a:srgbClr val="3E7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59569" y="4279392"/>
            <a:ext cx="194456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2F8F6"/>
                </a:solidFill>
                <a:latin typeface="Consolas"/>
              </a:rPr>
              <a:t>62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850" b="0" i="0" spc="100">
                <a:solidFill>
                  <a:srgbClr val="CFE5DE"/>
                </a:solidFill>
                <a:latin typeface="Segoe UI"/>
              </a:rPr>
              <a:t>CPL TERDATA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87012.0" y="4114800"/>
            <a:ext cx="2017715.0" cy="0"/>
          </a:xfrm>
          <a:prstGeom prst="line">
            <a:avLst/>
          </a:prstGeom>
          <a:ln w="9525">
            <a:solidFill>
              <a:srgbClr val="3E7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287012" y="4279392"/>
            <a:ext cx="194456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2F8F6"/>
                </a:solidFill>
                <a:latin typeface="Consolas"/>
              </a:rPr>
              <a:t>14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850" b="0" i="0" spc="100">
                <a:solidFill>
                  <a:srgbClr val="CFE5DE"/>
                </a:solidFill>
                <a:latin typeface="Segoe UI"/>
              </a:rPr>
              <a:t>DOSEN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06440"/>
            <a:ext cx="744605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FE5DE"/>
                </a:solidFill>
                <a:latin typeface="Segoe UI"/>
              </a:rPr>
              <a:t>Dipaparkan kepada Rektorat ITEKES Bintang Persada  ·  1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40">
                <a:solidFill>
                  <a:srgbClr val="8A6D1D"/>
                </a:solidFill>
                <a:latin typeface="Consolas"/>
              </a:rPr>
              <a:t>LATAR BELAKANG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3290" y="457200"/>
            <a:ext cx="31911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 spc="80">
                <a:solidFill>
                  <a:srgbClr val="48544F"/>
                </a:solidFill>
                <a:latin typeface="Consolas"/>
              </a:rPr>
              <a:t>02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841248"/>
            <a:ext cx="10637215" cy="0"/>
          </a:xfrm>
          <a:prstGeom prst="line">
            <a:avLst/>
          </a:prstGeom>
          <a:ln w="9525">
            <a:solidFill>
              <a:srgbClr val="D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05156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16211F"/>
                </a:solidFill>
                <a:latin typeface="Georgia"/>
              </a:rPr>
              <a:t>Masalah yang sedang kita hadapi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87225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48544F"/>
                </a:solidFill>
                <a:latin typeface="Segoe UI"/>
              </a:rPr>
              <a:t>Fakultas baru, prodi baru, dosen mayoritas baru — dan akreditasi menanti tahun depan. Administrasi menjadi hambatan terbesar, bukan pengajarannya.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788920"/>
            <a:ext cx="489311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16211F"/>
                </a:solidFill>
                <a:latin typeface="Segoe UI"/>
              </a:rPr>
              <a:t>Temuan AMI: kekurangan buku ajar. </a:t>
            </a:r>
            <a:r>
              <a:rPr sz="1150">
                <a:solidFill>
                  <a:srgbClr val="48544F"/>
                </a:solidFill>
                <a:latin typeface="Segoe UI"/>
              </a:rPr>
              <a:t>Bahan mengajar bertumpu pada PPT, padahal PPT adalah media pembelajaran berbasis TI — bukan bahan ajar.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852928"/>
            <a:ext cx="63500" cy="63500"/>
          </a:xfrm>
          <a:prstGeom prst="ellipse">
            <a:avLst/>
          </a:prstGeom>
          <a:solidFill>
            <a:srgbClr val="8A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3813048"/>
            <a:ext cx="489311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16211F"/>
                </a:solidFill>
                <a:latin typeface="Segoe UI"/>
              </a:rPr>
              <a:t>Tidak ada arsip terpusat. </a:t>
            </a:r>
            <a:r>
              <a:rPr sz="1150">
                <a:solidFill>
                  <a:srgbClr val="48544F"/>
                </a:solidFill>
                <a:latin typeface="Segoe UI"/>
              </a:rPr>
              <a:t>SK dan bahan ajar tersebar di Google Drive pribadi serta grup percakapan. Nomor SK diberikan manual, arsipnya tidak ada.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877056"/>
            <a:ext cx="63500" cy="63500"/>
          </a:xfrm>
          <a:prstGeom prst="ellipse">
            <a:avLst/>
          </a:prstGeom>
          <a:solidFill>
            <a:srgbClr val="8A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4837176"/>
            <a:ext cx="489311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16211F"/>
                </a:solidFill>
                <a:latin typeface="Segoe UI"/>
              </a:rPr>
              <a:t>Setiap dosen menyusun RPS dari nol. </a:t>
            </a:r>
            <a:r>
              <a:rPr sz="1150">
                <a:solidFill>
                  <a:srgbClr val="48544F"/>
                </a:solidFill>
                <a:latin typeface="Segoe UI"/>
              </a:rPr>
              <a:t>Tanpa acuan bersama, penerapan OBE berbeda-beda antar mata kuliah.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901184"/>
            <a:ext cx="63500" cy="63500"/>
          </a:xfrm>
          <a:prstGeom prst="ellipse">
            <a:avLst/>
          </a:prstGeom>
          <a:solidFill>
            <a:srgbClr val="8A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21336" y="2788920"/>
            <a:ext cx="4893118" cy="1298448"/>
          </a:xfrm>
          <a:prstGeom prst="rect">
            <a:avLst/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21336" y="2788920"/>
            <a:ext cx="38100" cy="1298448"/>
          </a:xfrm>
          <a:prstGeom prst="rect">
            <a:avLst/>
          </a:prstGeom>
          <a:solidFill>
            <a:srgbClr val="A3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2504" y="2953512"/>
            <a:ext cx="449078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A33A2A"/>
                </a:solidFill>
                <a:latin typeface="Segoe UI"/>
              </a:rPr>
              <a:t>Daftar pustaka sudah kedaluwarsa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Audit atas 324 entri: 110 dari 162 pustaka utama berumur lebih dari 7 tahun, dan 23 dari 54 mata kuliah SI tidak punya rujukan mutakhir.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21336" y="4270248"/>
            <a:ext cx="4893118" cy="1298448"/>
          </a:xfrm>
          <a:prstGeom prst="rect">
            <a:avLst/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1336" y="4270248"/>
            <a:ext cx="38100" cy="1298448"/>
          </a:xfrm>
          <a:prstGeom prst="rect">
            <a:avLst/>
          </a:prstGeom>
          <a:solidFill>
            <a:srgbClr val="A3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2504" y="4434840"/>
            <a:ext cx="449078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A33A2A"/>
                </a:solidFill>
                <a:latin typeface="Segoe UI"/>
              </a:rPr>
              <a:t>SIAKAD tidak menyediakan API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Versi yang terpasang tidak mencakup akses API, sehingga RPS dan nilai harus diunggah manual satu per satu.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40">
                <a:solidFill>
                  <a:srgbClr val="8A6D1D"/>
                </a:solidFill>
                <a:latin typeface="Consolas"/>
              </a:rPr>
              <a:t>YANG SUDAH BERJALAN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3290" y="457200"/>
            <a:ext cx="31911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 spc="80">
                <a:solidFill>
                  <a:srgbClr val="48544F"/>
                </a:solidFill>
                <a:latin typeface="Consolas"/>
              </a:rPr>
              <a:t>03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841248"/>
            <a:ext cx="10637215" cy="0"/>
          </a:xfrm>
          <a:prstGeom prst="line">
            <a:avLst/>
          </a:prstGeom>
          <a:ln w="9525">
            <a:solidFill>
              <a:srgbClr val="D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05156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16211F"/>
                </a:solidFill>
                <a:latin typeface="Georgia"/>
              </a:rPr>
              <a:t>Enam kemampuan yang sudah dipakai hari 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336285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0D5348"/>
                </a:solidFill>
                <a:latin typeface="Consolas"/>
              </a:rPr>
              <a:t>01   </a:t>
            </a:r>
            <a:r>
              <a:rPr sz="1300" b="1">
                <a:solidFill>
                  <a:srgbClr val="16211F"/>
                </a:solidFill>
                <a:latin typeface="Georgia"/>
              </a:rPr>
              <a:t>Tiga dokumen, satu sumber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RPS, SAP, dan Kontrak Kuliah disusun dari data mata kuliah yang sama, sehingga tidak ada versi yang saling bertentangan.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4418" y="1965960"/>
            <a:ext cx="336285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0D5348"/>
                </a:solidFill>
                <a:latin typeface="Consolas"/>
              </a:rPr>
              <a:t>02   </a:t>
            </a:r>
            <a:r>
              <a:rPr sz="1300" b="1">
                <a:solidFill>
                  <a:srgbClr val="16211F"/>
                </a:solidFill>
                <a:latin typeface="Georgia"/>
              </a:rPr>
              <a:t>Kurikulum OBE utuh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CPL → CPMK → Sub-CPMK, beserta matriks korelasi dan rancangan penilaian per pertemuan.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51596" y="1965960"/>
            <a:ext cx="336285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0D5348"/>
                </a:solidFill>
                <a:latin typeface="Consolas"/>
              </a:rPr>
              <a:t>03   </a:t>
            </a:r>
            <a:r>
              <a:rPr sz="1300" b="1">
                <a:solidFill>
                  <a:srgbClr val="16211F"/>
                </a:solidFill>
                <a:latin typeface="Georgia"/>
              </a:rPr>
              <a:t>Riwayat perubahan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Setiap perubahan tercatat: siapa, kapan, nilai sebelum dan sesudahnya. Dapat ditampilkan sebagai bukti saat asesmen.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38728"/>
            <a:ext cx="336285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0D5348"/>
                </a:solidFill>
                <a:latin typeface="Consolas"/>
              </a:rPr>
              <a:t>04   </a:t>
            </a:r>
            <a:r>
              <a:rPr sz="1300" b="1">
                <a:solidFill>
                  <a:srgbClr val="16211F"/>
                </a:solidFill>
                <a:latin typeface="Georgia"/>
              </a:rPr>
              <a:t>Arsip buku ajar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Folder per mata kuliah, terbagi per program studi. Berkas besar cukup ditautkan ke Google Drive, tidak membebani server.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4418" y="3538728"/>
            <a:ext cx="336285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0D5348"/>
                </a:solidFill>
                <a:latin typeface="Consolas"/>
              </a:rPr>
              <a:t>05   </a:t>
            </a:r>
            <a:r>
              <a:rPr sz="1300" b="1">
                <a:solidFill>
                  <a:srgbClr val="16211F"/>
                </a:solidFill>
                <a:latin typeface="Georgia"/>
              </a:rPr>
              <a:t>Peran berjenjang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Dosen mengelola dokumennya sendiri; Kaprodi melihat seluruh mata kuliah prodinya dan menandatangani RPS.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51596" y="3538728"/>
            <a:ext cx="336285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0D5348"/>
                </a:solidFill>
                <a:latin typeface="Consolas"/>
              </a:rPr>
              <a:t>06   </a:t>
            </a:r>
            <a:r>
              <a:rPr sz="1300" b="1">
                <a:solidFill>
                  <a:srgbClr val="16211F"/>
                </a:solidFill>
                <a:latin typeface="Georgia"/>
              </a:rPr>
              <a:t>Masuk dengan email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Dosen dapat login memakai alamat email atau username, tanpa perlu menghafal format khusus.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230368"/>
            <a:ext cx="10637215" cy="896112"/>
          </a:xfrm>
          <a:prstGeom prst="rect">
            <a:avLst/>
          </a:prstGeom>
          <a:solidFill>
            <a:srgbClr val="F3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5230368"/>
            <a:ext cx="38100" cy="896112"/>
          </a:xfrm>
          <a:prstGeom prst="rect">
            <a:avLst/>
          </a:prstGeom>
          <a:solidFill>
            <a:srgbClr val="8A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5431536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16211F"/>
                </a:solidFill>
                <a:latin typeface="Segoe UI"/>
              </a:rPr>
              <a:t>Alur kerja dosen:  </a:t>
            </a:r>
            <a:r>
              <a:rPr sz="1100">
                <a:solidFill>
                  <a:srgbClr val="48544F"/>
                </a:solidFill>
                <a:latin typeface="Segoe UI"/>
              </a:rPr>
              <a:t>unduh draf RPS mata kuliah yang diampu  →  sesuaikan dengan gaya mengajar masing-masing  →  kembalikan untuk tanda tangan Kaprodi  →  unggah ke SIAKAD.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40">
                <a:solidFill>
                  <a:srgbClr val="8A6D1D"/>
                </a:solidFill>
                <a:latin typeface="Consolas"/>
              </a:rPr>
              <a:t>KONDISI PER 1 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3290" y="457200"/>
            <a:ext cx="31911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 spc="80">
                <a:solidFill>
                  <a:srgbClr val="48544F"/>
                </a:solidFill>
                <a:latin typeface="Consolas"/>
              </a:rPr>
              <a:t>04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841248"/>
            <a:ext cx="10637215" cy="0"/>
          </a:xfrm>
          <a:prstGeom prst="line">
            <a:avLst/>
          </a:prstGeom>
          <a:ln w="9525">
            <a:solidFill>
              <a:srgbClr val="D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05156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16211F"/>
                </a:solidFill>
                <a:latin typeface="Georgia"/>
              </a:rPr>
              <a:t>Isi sistem saat ini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3393338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8100" cy="1097280"/>
          </a:xfrm>
          <a:prstGeom prst="rect">
            <a:avLst/>
          </a:prstGeom>
          <a:solidFill>
            <a:srgbClr val="0D5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2066544"/>
            <a:ext cx="298185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073A32"/>
                </a:solidFill>
                <a:latin typeface="Consolas"/>
              </a:rPr>
              <a:t>110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0" i="0" spc="90">
                <a:solidFill>
                  <a:srgbClr val="48544F"/>
                </a:solidFill>
                <a:latin typeface="Segoe UI"/>
              </a:rPr>
              <a:t>MATA KULIAH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950" b="0" i="0">
                <a:solidFill>
                  <a:srgbClr val="48544F"/>
                </a:solidFill>
                <a:latin typeface="Segoe UI"/>
              </a:rPr>
              <a:t>54 SI · 56 Informatika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9178" y="1920240"/>
            <a:ext cx="3393338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9178" y="1920240"/>
            <a:ext cx="38100" cy="1097280"/>
          </a:xfrm>
          <a:prstGeom prst="rect">
            <a:avLst/>
          </a:prstGeom>
          <a:solidFill>
            <a:srgbClr val="0D5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922" y="2066544"/>
            <a:ext cx="298185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073A32"/>
                </a:solidFill>
                <a:latin typeface="Consolas"/>
              </a:rPr>
              <a:t>111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0" i="0" spc="90">
                <a:solidFill>
                  <a:srgbClr val="48544F"/>
                </a:solidFill>
                <a:latin typeface="Segoe UI"/>
              </a:rPr>
              <a:t>RPS TERSUSUN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950" b="0" i="0">
                <a:solidFill>
                  <a:srgbClr val="48544F"/>
                </a:solidFill>
                <a:latin typeface="Segoe UI"/>
              </a:rPr>
              <a:t>semester 1–8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1116" y="1920240"/>
            <a:ext cx="3393338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21116" y="1920240"/>
            <a:ext cx="38100" cy="1097280"/>
          </a:xfrm>
          <a:prstGeom prst="rect">
            <a:avLst/>
          </a:prstGeom>
          <a:solidFill>
            <a:srgbClr val="0D5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8860" y="2066544"/>
            <a:ext cx="298185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073A32"/>
                </a:solidFill>
                <a:latin typeface="Consolas"/>
              </a:rPr>
              <a:t>62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0" i="0" spc="90">
                <a:solidFill>
                  <a:srgbClr val="48544F"/>
                </a:solidFill>
                <a:latin typeface="Segoe UI"/>
              </a:rPr>
              <a:t>CPL TERDATA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950" b="0" i="0">
                <a:solidFill>
                  <a:srgbClr val="48544F"/>
                </a:solidFill>
                <a:latin typeface="Segoe UI"/>
              </a:rPr>
              <a:t>33 SI · 29 Informatika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218688"/>
            <a:ext cx="3393338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218688"/>
            <a:ext cx="38100" cy="1097280"/>
          </a:xfrm>
          <a:prstGeom prst="rect">
            <a:avLst/>
          </a:prstGeom>
          <a:solidFill>
            <a:srgbClr val="0D5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3364992"/>
            <a:ext cx="298185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073A32"/>
                </a:solidFill>
                <a:latin typeface="Consolas"/>
              </a:rPr>
              <a:t>324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0" i="0" spc="90">
                <a:solidFill>
                  <a:srgbClr val="48544F"/>
                </a:solidFill>
                <a:latin typeface="Segoe UI"/>
              </a:rPr>
              <a:t>ENTRI PUSTAKA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950" b="0" i="0">
                <a:solidFill>
                  <a:srgbClr val="48544F"/>
                </a:solidFill>
                <a:latin typeface="Segoe UI"/>
              </a:rPr>
              <a:t>tertata Utama/Pendukung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99178" y="3218688"/>
            <a:ext cx="3393338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9178" y="3218688"/>
            <a:ext cx="38100" cy="1097280"/>
          </a:xfrm>
          <a:prstGeom prst="rect">
            <a:avLst/>
          </a:prstGeom>
          <a:solidFill>
            <a:srgbClr val="0D5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922" y="3364992"/>
            <a:ext cx="298185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073A32"/>
                </a:solidFill>
                <a:latin typeface="Consolas"/>
              </a:rPr>
              <a:t>102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0" i="0" spc="90">
                <a:solidFill>
                  <a:srgbClr val="48544F"/>
                </a:solidFill>
                <a:latin typeface="Segoe UI"/>
              </a:rPr>
              <a:t>TAUTAN E-BOOK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950" b="0" i="0">
                <a:solidFill>
                  <a:srgbClr val="48544F"/>
                </a:solidFill>
                <a:latin typeface="Segoe UI"/>
              </a:rPr>
              <a:t>lisensi terbuka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21116" y="3218688"/>
            <a:ext cx="3393338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21116" y="3218688"/>
            <a:ext cx="38100" cy="1097280"/>
          </a:xfrm>
          <a:prstGeom prst="rect">
            <a:avLst/>
          </a:prstGeom>
          <a:solidFill>
            <a:srgbClr val="0D5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8860" y="3364992"/>
            <a:ext cx="298185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073A32"/>
                </a:solidFill>
                <a:latin typeface="Consolas"/>
              </a:rPr>
              <a:t>110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0" i="0" spc="90">
                <a:solidFill>
                  <a:srgbClr val="48544F"/>
                </a:solidFill>
                <a:latin typeface="Segoe UI"/>
              </a:rPr>
              <a:t>FOLDER BUKU AJAR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950" b="0" i="0">
                <a:solidFill>
                  <a:srgbClr val="48544F"/>
                </a:solidFill>
                <a:latin typeface="Segoe UI"/>
              </a:rPr>
              <a:t>satu per mata kuliah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5044287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16211F"/>
                </a:solidFill>
                <a:latin typeface="Georgia"/>
              </a:rPr>
              <a:t>Penataan daftar pustaka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Status Utama/Pendukung pada seluruh 54 RPS Sistem Informasi ditata ulang: 100 entri berpindah status agar rujukan yang benar-benar dapat diakses mahasiswa berada di posisi utama.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3007" y="4892040"/>
            <a:ext cx="5044287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16211F"/>
                </a:solidFill>
                <a:latin typeface="Georgia"/>
              </a:rPr>
              <a:t>E-book berlisensi terbuka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Penelusuran ke OpenAlex, OAPEN, Semantic Scholar, dan Unpaywall menghasilkan 102 tautan yang boleh diarsipkan institusi dan dikutip di berkas akreditasi.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40">
                <a:solidFill>
                  <a:srgbClr val="8A6D1D"/>
                </a:solidFill>
                <a:latin typeface="Consolas"/>
              </a:rPr>
              <a:t>MANFAAT · DOSEN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3290" y="457200"/>
            <a:ext cx="31911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 spc="80">
                <a:solidFill>
                  <a:srgbClr val="48544F"/>
                </a:solidFill>
                <a:latin typeface="Consolas"/>
              </a:rPr>
              <a:t>05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841248"/>
            <a:ext cx="10637215" cy="0"/>
          </a:xfrm>
          <a:prstGeom prst="line">
            <a:avLst/>
          </a:prstGeom>
          <a:ln w="9525">
            <a:solidFill>
              <a:srgbClr val="D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05156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16211F"/>
                </a:solidFill>
                <a:latin typeface="Georgia"/>
              </a:rPr>
              <a:t>Yang berubah bagi dosen pengampu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011680"/>
            <a:ext cx="531860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16211F"/>
                </a:solidFill>
                <a:latin typeface="Segoe UI"/>
              </a:rPr>
              <a:t>Tidak lagi mulai dari halaman kosong. </a:t>
            </a:r>
            <a:r>
              <a:rPr sz="1150">
                <a:solidFill>
                  <a:srgbClr val="48544F"/>
                </a:solidFill>
                <a:latin typeface="Segoe UI"/>
              </a:rPr>
              <a:t>Draf RPS semester 1 sampai 8 sudah tersedia; dosen menyesuaikan, bukan menyusun dari awal.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075688"/>
            <a:ext cx="63500" cy="63500"/>
          </a:xfrm>
          <a:prstGeom prst="ellipse">
            <a:avLst/>
          </a:prstGeom>
          <a:solidFill>
            <a:srgbClr val="8A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944368"/>
            <a:ext cx="531860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16211F"/>
                </a:solidFill>
                <a:latin typeface="Segoe UI"/>
              </a:rPr>
              <a:t>Kebebasan tetap terjaga. </a:t>
            </a:r>
            <a:r>
              <a:rPr sz="1150">
                <a:solidFill>
                  <a:srgbClr val="48544F"/>
                </a:solidFill>
                <a:latin typeface="Segoe UI"/>
              </a:rPr>
              <a:t>Struktur dan penomoran seragam, tetapi isi setiap pertemuan sepenuhnya kewenangan dosen pengampu.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008376"/>
            <a:ext cx="63500" cy="63500"/>
          </a:xfrm>
          <a:prstGeom prst="ellipse">
            <a:avLst/>
          </a:prstGeom>
          <a:solidFill>
            <a:srgbClr val="8A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3877056"/>
            <a:ext cx="531860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16211F"/>
                </a:solidFill>
                <a:latin typeface="Segoe UI"/>
              </a:rPr>
              <a:t>Bukti untuk BKD sudah terkumpul. </a:t>
            </a:r>
            <a:r>
              <a:rPr sz="1150">
                <a:solidFill>
                  <a:srgbClr val="48544F"/>
                </a:solidFill>
                <a:latin typeface="Segoe UI"/>
              </a:rPr>
              <a:t>RPS dan riwayat perubahannya tinggal diunduh saat penyusunan laporan beban kerja.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941064"/>
            <a:ext cx="63500" cy="63500"/>
          </a:xfrm>
          <a:prstGeom prst="ellipse">
            <a:avLst/>
          </a:prstGeom>
          <a:solidFill>
            <a:srgbClr val="8A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4809744"/>
            <a:ext cx="531860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16211F"/>
                </a:solidFill>
                <a:latin typeface="Segoe UI"/>
              </a:rPr>
              <a:t>Bahan ajar ada di tempatnya. </a:t>
            </a:r>
            <a:r>
              <a:rPr sz="1150">
                <a:solidFill>
                  <a:srgbClr val="48544F"/>
                </a:solidFill>
                <a:latin typeface="Segoe UI"/>
              </a:rPr>
              <a:t>Setiap mata kuliah punya folder sendiri, tidak lagi berpindah tautan di grup percakapan.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873752"/>
            <a:ext cx="63500" cy="63500"/>
          </a:xfrm>
          <a:prstGeom prst="ellipse">
            <a:avLst/>
          </a:prstGeom>
          <a:solidFill>
            <a:srgbClr val="8A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6824" y="2011680"/>
            <a:ext cx="25400" cy="1051560"/>
          </a:xfrm>
          <a:prstGeom prst="rect">
            <a:avLst/>
          </a:prstGeom>
          <a:solidFill>
            <a:srgbClr val="8A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6280" y="2011680"/>
            <a:ext cx="419331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1">
                <a:solidFill>
                  <a:srgbClr val="16211F"/>
                </a:solidFill>
                <a:latin typeface="Georgia"/>
              </a:rPr>
              <a:t>“Kita mencari standar dalam kebebasan.”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900" b="0" i="0" spc="90">
                <a:solidFill>
                  <a:srgbClr val="48544F"/>
                </a:solidFill>
                <a:latin typeface="Segoe UI"/>
              </a:rPr>
              <a:t>RAPAT PRODI SISTEM INFORMASI · 28 AGUSTUS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6824" y="3657600"/>
            <a:ext cx="4467630" cy="1508760"/>
          </a:xfrm>
          <a:prstGeom prst="rect">
            <a:avLst/>
          </a:prstGeom>
          <a:solidFill>
            <a:srgbClr val="F3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46824" y="3657600"/>
            <a:ext cx="38100" cy="1508760"/>
          </a:xfrm>
          <a:prstGeom prst="rect">
            <a:avLst/>
          </a:prstGeom>
          <a:solidFill>
            <a:srgbClr val="8A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6280" y="3840480"/>
            <a:ext cx="402871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16211F"/>
                </a:solidFill>
                <a:latin typeface="Segoe UI"/>
              </a:rPr>
              <a:t>Catatan jujur. </a:t>
            </a:r>
            <a:r>
              <a:rPr sz="1100">
                <a:solidFill>
                  <a:srgbClr val="48544F"/>
                </a:solidFill>
                <a:latin typeface="Segoe UI"/>
              </a:rPr>
              <a:t>Sistem ini mengurangi pekerjaan administrasi, bukan menggantikan keahlian dosen. Draf yang dihasilkan tetap wajib ditinjau — penetapan CPMK dan kedalaman materi adalah kewenangan dosen pengampu.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40">
                <a:solidFill>
                  <a:srgbClr val="8A6D1D"/>
                </a:solidFill>
                <a:latin typeface="Consolas"/>
              </a:rPr>
              <a:t>MANFAAT · PRODI &amp; INSTITUSI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3290" y="457200"/>
            <a:ext cx="31911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 spc="80">
                <a:solidFill>
                  <a:srgbClr val="48544F"/>
                </a:solidFill>
                <a:latin typeface="Consolas"/>
              </a:rPr>
              <a:t>06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841248"/>
            <a:ext cx="10637215" cy="0"/>
          </a:xfrm>
          <a:prstGeom prst="line">
            <a:avLst/>
          </a:prstGeom>
          <a:ln w="9525">
            <a:solidFill>
              <a:srgbClr val="D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05156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16211F"/>
                </a:solidFill>
                <a:latin typeface="Georgia"/>
              </a:rPr>
              <a:t>Yang didapat prodi dan institusi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.0" y="1965960"/>
            <a:ext cx="3225698.3333333335" cy="0"/>
          </a:xfrm>
          <a:prstGeom prst="line">
            <a:avLst/>
          </a:prstGeom>
          <a:ln w="19050">
            <a:solidFill>
              <a:srgbClr val="0D53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130552"/>
            <a:ext cx="336285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16211F"/>
                </a:solidFill>
                <a:latin typeface="Georgia"/>
              </a:rPr>
              <a:t>Kesiapan akreditasi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Dokumen kurikulum, RPS, kontrak kuliah, dan daftar pustaka tersimpan rapi dan dapat ditelusuri kapan pun diminta asesor.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14418.333333334" y="1965960"/>
            <a:ext cx="3225698.333333334" cy="0"/>
          </a:xfrm>
          <a:prstGeom prst="line">
            <a:avLst/>
          </a:prstGeom>
          <a:ln w="19050">
            <a:solidFill>
              <a:srgbClr val="0D53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14418" y="2130552"/>
            <a:ext cx="336285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16211F"/>
                </a:solidFill>
                <a:latin typeface="Georgia"/>
              </a:rPr>
              <a:t>Kelengkapan BKD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Empat dokumen wajib BKD — SK mengajar, RPS, jurnal mengajar, dan nilai mahasiswa — tersedia dari satu tempat.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51596.666666667" y="1965960"/>
            <a:ext cx="3225698.333333333" cy="0"/>
          </a:xfrm>
          <a:prstGeom prst="line">
            <a:avLst/>
          </a:prstGeom>
          <a:ln w="19050">
            <a:solidFill>
              <a:srgbClr val="0D53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51596" y="2130552"/>
            <a:ext cx="336285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16211F"/>
                </a:solidFill>
                <a:latin typeface="Georgia"/>
              </a:rPr>
              <a:t>Konsistensi OBE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Penerapan OBE seragam antar mata kuliah dan antar prodi, mengacu pada buku kurikulum yang sama.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.0" y="3749040"/>
            <a:ext cx="3225698.3333333335" cy="0"/>
          </a:xfrm>
          <a:prstGeom prst="line">
            <a:avLst/>
          </a:prstGeom>
          <a:ln w="19050">
            <a:solidFill>
              <a:srgbClr val="0D53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3913632"/>
            <a:ext cx="336285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16211F"/>
                </a:solidFill>
                <a:latin typeface="Georgia"/>
              </a:rPr>
              <a:t>Arsip institusional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Dokumen tidak lagi bergantung pada Drive pribadi dosen. Saat dosen berpindah tugas, arsipnya tetap di institusi.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14418.333333334" y="3749040"/>
            <a:ext cx="3225698.333333334" cy="0"/>
          </a:xfrm>
          <a:prstGeom prst="line">
            <a:avLst/>
          </a:prstGeom>
          <a:ln w="19050">
            <a:solidFill>
              <a:srgbClr val="0D53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14418" y="3913632"/>
            <a:ext cx="336285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16211F"/>
                </a:solidFill>
                <a:latin typeface="Georgia"/>
              </a:rPr>
              <a:t>Dasar komposisi nilai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Bobot penilaian pada kontrak kuliah menjadi acuan pengisian komponen nilai di SIAKAD.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51596.666666667" y="3749040"/>
            <a:ext cx="3225698.333333333" cy="0"/>
          </a:xfrm>
          <a:prstGeom prst="line">
            <a:avLst/>
          </a:prstGeom>
          <a:ln w="19050">
            <a:solidFill>
              <a:srgbClr val="0D53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51596" y="3913632"/>
            <a:ext cx="3362858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16211F"/>
                </a:solidFill>
                <a:latin typeface="Georgia"/>
              </a:rPr>
              <a:t>Hemat biaya lisensi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Dibangun di atas Odoo 19 dengan modul yang dikembangkan sendiri — tidak ada biaya lisensi per pengguna.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40">
                <a:solidFill>
                  <a:srgbClr val="8A6D1D"/>
                </a:solidFill>
                <a:latin typeface="Consolas"/>
              </a:rPr>
              <a:t>RENCANA KE DEPAN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3290" y="457200"/>
            <a:ext cx="31911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 spc="80">
                <a:solidFill>
                  <a:srgbClr val="48544F"/>
                </a:solidFill>
                <a:latin typeface="Consolas"/>
              </a:rPr>
              <a:t>07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841248"/>
            <a:ext cx="10637215" cy="0"/>
          </a:xfrm>
          <a:prstGeom prst="line">
            <a:avLst/>
          </a:prstGeom>
          <a:ln w="9525">
            <a:solidFill>
              <a:srgbClr val="D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05156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16211F"/>
                </a:solidFill>
                <a:latin typeface="Georgia"/>
              </a:rPr>
              <a:t>Perluasan ke S1 Keperawatan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87225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48544F"/>
                </a:solidFill>
                <a:latin typeface="Segoe UI"/>
              </a:rPr>
              <a:t>Penambahan Informatika membuktikan strukturnya sudah siap banyak prodi — 56 mata kuliah masuk tanpa satu pun perubahan arsitektur.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2606040"/>
            <a:ext cx="10637215" cy="0"/>
          </a:xfrm>
          <a:prstGeom prst="line">
            <a:avLst/>
          </a:prstGeom>
          <a:ln w="9525">
            <a:solidFill>
              <a:srgbClr val="D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77240" y="2752344"/>
            <a:ext cx="841248" cy="219456"/>
          </a:xfrm>
          <a:prstGeom prst="rect">
            <a:avLst/>
          </a:prstGeom>
          <a:solidFill>
            <a:srgbClr val="E4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73A32"/>
                </a:solidFill>
                <a:latin typeface="Segoe UI"/>
              </a:rPr>
              <a:t>SELESAI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44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80">
                <a:solidFill>
                  <a:srgbClr val="48544F"/>
                </a:solidFill>
                <a:latin typeface="Consolas"/>
              </a:rPr>
              <a:t>Tahap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734056"/>
            <a:ext cx="9402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6211F"/>
                </a:solidFill>
                <a:latin typeface="Georgia"/>
              </a:rPr>
              <a:t>S1 Sistem Informasi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54 mata kuliah, 54 RPS, 33 CPL. Menjadi rujukan pola untuk prodi berikutnya.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3538728"/>
            <a:ext cx="10637215" cy="0"/>
          </a:xfrm>
          <a:prstGeom prst="line">
            <a:avLst/>
          </a:prstGeom>
          <a:ln w="9525">
            <a:solidFill>
              <a:srgbClr val="D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77240" y="3685032"/>
            <a:ext cx="841248" cy="219456"/>
          </a:xfrm>
          <a:prstGeom prst="rect">
            <a:avLst/>
          </a:prstGeom>
          <a:solidFill>
            <a:srgbClr val="E4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73A32"/>
                </a:solidFill>
                <a:latin typeface="Segoe UI"/>
              </a:rPr>
              <a:t>SELESAI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80">
                <a:solidFill>
                  <a:srgbClr val="48544F"/>
                </a:solidFill>
                <a:latin typeface="Consolas"/>
              </a:rPr>
              <a:t>Tahap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666744"/>
            <a:ext cx="9402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6211F"/>
                </a:solidFill>
                <a:latin typeface="Georgia"/>
              </a:rPr>
              <a:t>S1 Informatika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56 mata kuliah, 56 RPS, 29 CPL, dengan Kaprodi dan enam dosen pengampu terdata.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4471416"/>
            <a:ext cx="10637215" cy="0"/>
          </a:xfrm>
          <a:prstGeom prst="line">
            <a:avLst/>
          </a:prstGeom>
          <a:ln w="9525">
            <a:solidFill>
              <a:srgbClr val="D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4617720"/>
            <a:ext cx="841248" cy="219456"/>
          </a:xfrm>
          <a:prstGeom prst="rect">
            <a:avLst/>
          </a:prstGeom>
          <a:solidFill>
            <a:srgbClr val="F3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8A6D1D"/>
                </a:solidFill>
                <a:latin typeface="Segoe UI"/>
              </a:rPr>
              <a:t>DIUSULKAN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103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80">
                <a:solidFill>
                  <a:srgbClr val="48544F"/>
                </a:solidFill>
                <a:latin typeface="Consolas"/>
              </a:rPr>
              <a:t>Tahap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599432"/>
            <a:ext cx="9402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6211F"/>
                </a:solidFill>
                <a:latin typeface="Georgia"/>
              </a:rPr>
              <a:t>S1 Keperawatan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Yang perlu disiapkan prodi: buku kurikulum beserta rumusan CPL resmi, daftar mata kuliah per semester, serta penetapan Kaprodi dan dosen pengampu.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5404104"/>
            <a:ext cx="10637215" cy="0"/>
          </a:xfrm>
          <a:prstGeom prst="line">
            <a:avLst/>
          </a:prstGeom>
          <a:ln w="9525">
            <a:solidFill>
              <a:srgbClr val="D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77240" y="5550408"/>
            <a:ext cx="841248" cy="219456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48544F"/>
                </a:solidFill>
                <a:latin typeface="Segoe UI"/>
              </a:rPr>
              <a:t>BERIKUTNYA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4301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80">
                <a:solidFill>
                  <a:srgbClr val="48544F"/>
                </a:solidFill>
                <a:latin typeface="Consolas"/>
              </a:rPr>
              <a:t>Tahap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532120"/>
            <a:ext cx="9402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6211F"/>
                </a:solidFill>
                <a:latin typeface="Georgia"/>
              </a:rPr>
              <a:t>D3 Farmasi dan prodi lain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050" b="0" i="0">
                <a:solidFill>
                  <a:srgbClr val="48544F"/>
                </a:solidFill>
                <a:latin typeface="Segoe UI"/>
              </a:rPr>
              <a:t>Mengikuti pola yang sama setelah Keperawatan berjalan satu semester penuh.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336792"/>
            <a:ext cx="10637215" cy="0"/>
          </a:xfrm>
          <a:prstGeom prst="line">
            <a:avLst/>
          </a:prstGeom>
          <a:ln w="9525">
            <a:solidFill>
              <a:srgbClr val="D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77240" y="5989320"/>
            <a:ext cx="10637215" cy="658368"/>
          </a:xfrm>
          <a:prstGeom prst="rect">
            <a:avLst/>
          </a:prstGeom>
          <a:solidFill>
            <a:srgbClr val="F3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989320"/>
            <a:ext cx="38100" cy="658368"/>
          </a:xfrm>
          <a:prstGeom prst="rect">
            <a:avLst/>
          </a:prstGeom>
          <a:solidFill>
            <a:srgbClr val="8A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" y="6144768"/>
            <a:ext cx="101800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16211F"/>
                </a:solidFill>
                <a:latin typeface="Segoe UI"/>
              </a:rPr>
              <a:t>Catatan penting. </a:t>
            </a:r>
            <a:r>
              <a:rPr sz="1050">
                <a:solidFill>
                  <a:srgbClr val="48544F"/>
                </a:solidFill>
                <a:latin typeface="Segoe UI"/>
              </a:rPr>
              <a:t>Rumusan CPL khas per prodi — kode yang sama (S-01, P-01) memuat rumusan berbeda. Sistem sudah memisahkannya, sehingga prodi baru tidak menimpa data prodi yang sudah 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446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40">
                <a:solidFill>
                  <a:srgbClr val="8A6D1D"/>
                </a:solidFill>
                <a:latin typeface="Consolas"/>
              </a:rPr>
              <a:t>PERMOHONAN DUKUNGAN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3290" y="457200"/>
            <a:ext cx="31911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 spc="80">
                <a:solidFill>
                  <a:srgbClr val="48544F"/>
                </a:solidFill>
                <a:latin typeface="Consolas"/>
              </a:rPr>
              <a:t>08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841248"/>
            <a:ext cx="10637215" cy="0"/>
          </a:xfrm>
          <a:prstGeom prst="line">
            <a:avLst/>
          </a:prstGeom>
          <a:ln w="9525">
            <a:solidFill>
              <a:srgbClr val="D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05156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16211F"/>
                </a:solidFill>
                <a:latin typeface="Georgia"/>
              </a:rPr>
              <a:t>Enam dukungan yang kami mohonkan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1901952"/>
            <a:ext cx="10637215" cy="0"/>
          </a:xfrm>
          <a:prstGeom prst="line">
            <a:avLst/>
          </a:prstGeom>
          <a:ln w="9525">
            <a:solidFill>
              <a:srgbClr val="D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03911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8A6D1D"/>
                </a:solidFill>
                <a:latin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844265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16211F"/>
                </a:solidFill>
                <a:latin typeface="Georgia"/>
              </a:rPr>
              <a:t>Domain dan hosting resmi institusi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1000" b="0" i="0">
                <a:solidFill>
                  <a:srgbClr val="48544F"/>
                </a:solidFill>
                <a:latin typeface="Segoe UI"/>
              </a:rPr>
              <a:t>Sistem masih berjalan di domain pribadi pengembang. Untuk dipakai resmi, alamatnya perlu berada di bawah domain Bintang Persada.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1415" y="20391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 i="0" spc="90">
                <a:solidFill>
                  <a:srgbClr val="48544F"/>
                </a:solidFill>
                <a:latin typeface="Segoe UI"/>
              </a:rPr>
              <a:t>INFRASTRUKTUR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624328"/>
            <a:ext cx="10637215" cy="0"/>
          </a:xfrm>
          <a:prstGeom prst="line">
            <a:avLst/>
          </a:prstGeom>
          <a:ln w="9525">
            <a:solidFill>
              <a:srgbClr val="D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276148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8A6D1D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34056"/>
            <a:ext cx="844265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16211F"/>
                </a:solidFill>
                <a:latin typeface="Georgia"/>
              </a:rPr>
              <a:t>Akses API SIAKAD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1000" b="0" i="0">
                <a:solidFill>
                  <a:srgbClr val="48544F"/>
                </a:solidFill>
                <a:latin typeface="Segoe UI"/>
              </a:rPr>
              <a:t>Tanpa API, RPS dan nilai harus diunggah manual per mata kuliah. Dengan API, keduanya tersinkron otomatis.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51415" y="27614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 i="0" spc="90">
                <a:solidFill>
                  <a:srgbClr val="48544F"/>
                </a:solidFill>
                <a:latin typeface="Segoe UI"/>
              </a:rPr>
              <a:t>INTEGRASI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3346704"/>
            <a:ext cx="10637215" cy="0"/>
          </a:xfrm>
          <a:prstGeom prst="line">
            <a:avLst/>
          </a:prstGeom>
          <a:ln w="9525">
            <a:solidFill>
              <a:srgbClr val="D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34838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8A6D1D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56432"/>
            <a:ext cx="844265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16211F"/>
                </a:solidFill>
                <a:latin typeface="Georgia"/>
              </a:rPr>
              <a:t>Pendaftaran institusi ke eResources Perpusnas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1000" b="0" i="0">
                <a:solidFill>
                  <a:srgbClr val="48544F"/>
                </a:solidFill>
                <a:latin typeface="Segoe UI"/>
              </a:rPr>
              <a:t>Gratis untuk institusi. Menutup kebutuhan buku teks Cengage dan McGraw-Hill yang kini menjadi kendala terbesar daftar pustaka.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51415" y="348386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 i="0" spc="90">
                <a:solidFill>
                  <a:srgbClr val="48544F"/>
                </a:solidFill>
                <a:latin typeface="Segoe UI"/>
              </a:rPr>
              <a:t>PERPUSTAKAAN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4069080"/>
            <a:ext cx="10637215" cy="0"/>
          </a:xfrm>
          <a:prstGeom prst="line">
            <a:avLst/>
          </a:prstGeom>
          <a:ln w="9525">
            <a:solidFill>
              <a:srgbClr val="D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2062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8A6D1D"/>
                </a:solidFill>
                <a:latin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178808"/>
            <a:ext cx="844265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16211F"/>
                </a:solidFill>
                <a:latin typeface="Georgia"/>
              </a:rPr>
              <a:t>Anggaran penerbitan buku ajar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1000" b="0" i="0">
                <a:solidFill>
                  <a:srgbClr val="48544F"/>
                </a:solidFill>
                <a:latin typeface="Segoe UI"/>
              </a:rPr>
              <a:t>Target awal satu buku per prodi. Buku ajar ber-ISBN sekaligus memenuhi poin Pendidikan pada BKD dan bukti akreditasi.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51415" y="4206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 i="0" spc="90">
                <a:solidFill>
                  <a:srgbClr val="48544F"/>
                </a:solidFill>
                <a:latin typeface="Segoe UI"/>
              </a:rPr>
              <a:t>ANGGARAN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4791456"/>
            <a:ext cx="10637215" cy="0"/>
          </a:xfrm>
          <a:prstGeom prst="line">
            <a:avLst/>
          </a:prstGeom>
          <a:ln w="9525">
            <a:solidFill>
              <a:srgbClr val="D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492861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8A6D1D"/>
                </a:solidFill>
                <a:latin typeface="Consola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901184"/>
            <a:ext cx="844265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16211F"/>
                </a:solidFill>
                <a:latin typeface="Georgia"/>
              </a:rPr>
              <a:t>Payung hukum program laptop mahasiswa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1000" b="0" i="0">
                <a:solidFill>
                  <a:srgbClr val="48544F"/>
                </a:solidFill>
                <a:latin typeface="Segoe UI"/>
              </a:rPr>
              <a:t>Tujuh unit dengan cicilan tanpa bunga memerlukan surat perjanjian resmi.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1415" y="492861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 i="0" spc="90">
                <a:solidFill>
                  <a:srgbClr val="48544F"/>
                </a:solidFill>
                <a:latin typeface="Segoe UI"/>
              </a:rPr>
              <a:t>LEGAL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5513832"/>
            <a:ext cx="10637215" cy="0"/>
          </a:xfrm>
          <a:prstGeom prst="line">
            <a:avLst/>
          </a:prstGeom>
          <a:ln w="9525">
            <a:solidFill>
              <a:srgbClr val="D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5650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8A6D1D"/>
                </a:solidFill>
                <a:latin typeface="Consola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623560"/>
            <a:ext cx="844265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16211F"/>
                </a:solidFill>
                <a:latin typeface="Georgia"/>
              </a:rPr>
              <a:t>Penetapan resmi dan SK pengelola</a:t>
            </a:r>
          </a:p>
          <a:p>
            <a:pPr algn="l">
              <a:lnSpc>
                <a:spcPct val="135000"/>
              </a:lnSpc>
              <a:spcBef>
                <a:spcPts val="300"/>
              </a:spcBef>
            </a:pPr>
            <a:r>
              <a:rPr sz="1000" b="0" i="0">
                <a:solidFill>
                  <a:srgbClr val="48544F"/>
                </a:solidFill>
                <a:latin typeface="Segoe UI"/>
              </a:rPr>
              <a:t>Agar menjadi rujukan resmi prodi, bukan inisiatif perorangan, dan keberlanjutannya tidak bergantung pada satu dosen.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1415" y="56509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 i="0" spc="90">
                <a:solidFill>
                  <a:srgbClr val="48544F"/>
                </a:solidFill>
                <a:latin typeface="Segoe UI"/>
              </a:rPr>
              <a:t>KELEMBAGAAN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36208"/>
            <a:ext cx="10637215" cy="0"/>
          </a:xfrm>
          <a:prstGeom prst="line">
            <a:avLst/>
          </a:prstGeom>
          <a:ln w="9525">
            <a:solidFill>
              <a:srgbClr val="D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6437376"/>
            <a:ext cx="82970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48544F"/>
                </a:solidFill>
                <a:latin typeface="Segoe UI"/>
              </a:rPr>
              <a:t>Nomor 1 sampai 3 paling menentukan: tanpa ketiganya sistem tetap berjalan, tetapi belum dapat dinyatakan sebagai perangkat resmi institusi.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